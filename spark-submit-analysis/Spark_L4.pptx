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578" r:id="rId2"/>
    <p:sldId id="619" r:id="rId3"/>
    <p:sldId id="617" r:id="rId4"/>
    <p:sldId id="618" r:id="rId5"/>
    <p:sldId id="614" r:id="rId6"/>
    <p:sldId id="615" r:id="rId7"/>
    <p:sldId id="613" r:id="rId8"/>
    <p:sldId id="595" r:id="rId9"/>
    <p:sldId id="582" r:id="rId10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1D5"/>
    <a:srgbClr val="004475"/>
    <a:srgbClr val="DDDDE0"/>
    <a:srgbClr val="004090"/>
    <a:srgbClr val="EB0029"/>
    <a:srgbClr val="002A63"/>
    <a:srgbClr val="4D4D4D"/>
    <a:srgbClr val="00A3A2"/>
    <a:srgbClr val="0E48CE"/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60" autoAdjust="0"/>
    <p:restoredTop sz="94690"/>
  </p:normalViewPr>
  <p:slideViewPr>
    <p:cSldViewPr snapToGrid="0" snapToObjects="1">
      <p:cViewPr varScale="1">
        <p:scale>
          <a:sx n="115" d="100"/>
          <a:sy n="115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251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0A564-4BD6-C241-B0EF-F2EA8637067C}" type="datetimeFigureOut">
              <a:rPr kumimoji="1" lang="zh-CN" altLang="en-US" smtClean="0"/>
              <a:t>2024/9/24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F412B-C48B-AB46-A162-40EEC57674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79C2B-F998-5540-8710-D9FEEDF7CBE3}" type="datetimeFigureOut">
              <a:rPr kumimoji="1" lang="zh-CN" altLang="en-US" smtClean="0"/>
              <a:t>2024/9/24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0017C-9B7C-4C4F-8220-191876B701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D3D4D9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 noEditPoints="1"/>
          </p:cNvSpPr>
          <p:nvPr userDrawn="1"/>
        </p:nvSpPr>
        <p:spPr bwMode="auto">
          <a:xfrm>
            <a:off x="9905407" y="6368114"/>
            <a:ext cx="1616327" cy="289051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-177282" y="1955058"/>
            <a:ext cx="6192055" cy="1370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L4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定级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组件逻辑架构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06995" y="6286406"/>
            <a:ext cx="2606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未来，因潮澎湃    </a:t>
            </a:r>
            <a:r>
              <a:rPr kumimoji="1" lang="en-US" altLang="zh-CN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Inspur in Future</a:t>
            </a:r>
          </a:p>
        </p:txBody>
      </p:sp>
      <p:sp>
        <p:nvSpPr>
          <p:cNvPr id="12" name="Freeform 5"/>
          <p:cNvSpPr/>
          <p:nvPr/>
        </p:nvSpPr>
        <p:spPr bwMode="auto">
          <a:xfrm>
            <a:off x="6674663" y="896471"/>
            <a:ext cx="4881600" cy="5325036"/>
          </a:xfrm>
          <a:custGeom>
            <a:avLst/>
            <a:gdLst>
              <a:gd name="T0" fmla="*/ 320 w 1531"/>
              <a:gd name="T1" fmla="*/ 18 h 1670"/>
              <a:gd name="T2" fmla="*/ 1504 w 1531"/>
              <a:gd name="T3" fmla="*/ 822 h 1670"/>
              <a:gd name="T4" fmla="*/ 1500 w 1531"/>
              <a:gd name="T5" fmla="*/ 895 h 1670"/>
              <a:gd name="T6" fmla="*/ 69 w 1531"/>
              <a:gd name="T7" fmla="*/ 1653 h 1670"/>
              <a:gd name="T8" fmla="*/ 6 w 1531"/>
              <a:gd name="T9" fmla="*/ 1608 h 1670"/>
              <a:gd name="T10" fmla="*/ 254 w 1531"/>
              <a:gd name="T11" fmla="*/ 47 h 1670"/>
              <a:gd name="T12" fmla="*/ 320 w 1531"/>
              <a:gd name="T13" fmla="*/ 18 h 1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1" h="1670">
                <a:moveTo>
                  <a:pt x="320" y="18"/>
                </a:moveTo>
                <a:cubicBezTo>
                  <a:pt x="1504" y="822"/>
                  <a:pt x="1504" y="822"/>
                  <a:pt x="1504" y="822"/>
                </a:cubicBezTo>
                <a:cubicBezTo>
                  <a:pt x="1531" y="840"/>
                  <a:pt x="1529" y="880"/>
                  <a:pt x="1500" y="895"/>
                </a:cubicBezTo>
                <a:cubicBezTo>
                  <a:pt x="69" y="1653"/>
                  <a:pt x="69" y="1653"/>
                  <a:pt x="69" y="1653"/>
                </a:cubicBezTo>
                <a:cubicBezTo>
                  <a:pt x="37" y="1670"/>
                  <a:pt x="0" y="1643"/>
                  <a:pt x="6" y="1608"/>
                </a:cubicBezTo>
                <a:cubicBezTo>
                  <a:pt x="254" y="47"/>
                  <a:pt x="254" y="47"/>
                  <a:pt x="254" y="47"/>
                </a:cubicBezTo>
                <a:cubicBezTo>
                  <a:pt x="259" y="16"/>
                  <a:pt x="294" y="0"/>
                  <a:pt x="320" y="18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1545" t="-360" r="-27739" b="-7212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13" name="Freeform 6"/>
          <p:cNvSpPr/>
          <p:nvPr/>
        </p:nvSpPr>
        <p:spPr bwMode="auto">
          <a:xfrm>
            <a:off x="10707842" y="3734784"/>
            <a:ext cx="623702" cy="681626"/>
          </a:xfrm>
          <a:custGeom>
            <a:avLst/>
            <a:gdLst>
              <a:gd name="T0" fmla="*/ 56 w 196"/>
              <a:gd name="T1" fmla="*/ 7 h 214"/>
              <a:gd name="T2" fmla="*/ 185 w 196"/>
              <a:gd name="T3" fmla="*/ 95 h 214"/>
              <a:gd name="T4" fmla="*/ 184 w 196"/>
              <a:gd name="T5" fmla="*/ 124 h 214"/>
              <a:gd name="T6" fmla="*/ 28 w 196"/>
              <a:gd name="T7" fmla="*/ 207 h 214"/>
              <a:gd name="T8" fmla="*/ 2 w 196"/>
              <a:gd name="T9" fmla="*/ 189 h 214"/>
              <a:gd name="T10" fmla="*/ 29 w 196"/>
              <a:gd name="T11" fmla="*/ 19 h 214"/>
              <a:gd name="T12" fmla="*/ 56 w 196"/>
              <a:gd name="T13" fmla="*/ 7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6" h="214">
                <a:moveTo>
                  <a:pt x="56" y="7"/>
                </a:moveTo>
                <a:cubicBezTo>
                  <a:pt x="185" y="95"/>
                  <a:pt x="185" y="95"/>
                  <a:pt x="185" y="95"/>
                </a:cubicBezTo>
                <a:cubicBezTo>
                  <a:pt x="196" y="102"/>
                  <a:pt x="195" y="118"/>
                  <a:pt x="184" y="124"/>
                </a:cubicBezTo>
                <a:cubicBezTo>
                  <a:pt x="28" y="207"/>
                  <a:pt x="28" y="207"/>
                  <a:pt x="28" y="207"/>
                </a:cubicBezTo>
                <a:cubicBezTo>
                  <a:pt x="15" y="214"/>
                  <a:pt x="0" y="203"/>
                  <a:pt x="2" y="189"/>
                </a:cubicBezTo>
                <a:cubicBezTo>
                  <a:pt x="29" y="19"/>
                  <a:pt x="29" y="19"/>
                  <a:pt x="29" y="19"/>
                </a:cubicBezTo>
                <a:cubicBezTo>
                  <a:pt x="31" y="6"/>
                  <a:pt x="46" y="0"/>
                  <a:pt x="56" y="7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7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14" name="Freeform 7"/>
          <p:cNvSpPr/>
          <p:nvPr/>
        </p:nvSpPr>
        <p:spPr bwMode="auto">
          <a:xfrm>
            <a:off x="5877187" y="2816071"/>
            <a:ext cx="2470558" cy="2694174"/>
          </a:xfrm>
          <a:custGeom>
            <a:avLst/>
            <a:gdLst>
              <a:gd name="T0" fmla="*/ 177 w 775"/>
              <a:gd name="T1" fmla="*/ 14 h 845"/>
              <a:gd name="T2" fmla="*/ 754 w 775"/>
              <a:gd name="T3" fmla="*/ 405 h 845"/>
              <a:gd name="T4" fmla="*/ 751 w 775"/>
              <a:gd name="T5" fmla="*/ 463 h 845"/>
              <a:gd name="T6" fmla="*/ 54 w 775"/>
              <a:gd name="T7" fmla="*/ 832 h 845"/>
              <a:gd name="T8" fmla="*/ 4 w 775"/>
              <a:gd name="T9" fmla="*/ 797 h 845"/>
              <a:gd name="T10" fmla="*/ 125 w 775"/>
              <a:gd name="T11" fmla="*/ 37 h 845"/>
              <a:gd name="T12" fmla="*/ 177 w 775"/>
              <a:gd name="T13" fmla="*/ 14 h 8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5" h="845">
                <a:moveTo>
                  <a:pt x="177" y="14"/>
                </a:moveTo>
                <a:cubicBezTo>
                  <a:pt x="754" y="405"/>
                  <a:pt x="754" y="405"/>
                  <a:pt x="754" y="405"/>
                </a:cubicBezTo>
                <a:cubicBezTo>
                  <a:pt x="775" y="419"/>
                  <a:pt x="773" y="451"/>
                  <a:pt x="751" y="463"/>
                </a:cubicBezTo>
                <a:cubicBezTo>
                  <a:pt x="54" y="832"/>
                  <a:pt x="54" y="832"/>
                  <a:pt x="54" y="832"/>
                </a:cubicBezTo>
                <a:cubicBezTo>
                  <a:pt x="29" y="845"/>
                  <a:pt x="0" y="825"/>
                  <a:pt x="4" y="79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9" y="12"/>
                  <a:pt x="157" y="0"/>
                  <a:pt x="177" y="14"/>
                </a:cubicBezTo>
                <a:close/>
              </a:path>
            </a:pathLst>
          </a:custGeom>
          <a:gradFill flip="none" rotWithShape="1">
            <a:gsLst>
              <a:gs pos="0">
                <a:srgbClr val="FF8000"/>
              </a:gs>
              <a:gs pos="100000">
                <a:srgbClr val="E80029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auto">
          <a:xfrm>
            <a:off x="768009" y="544469"/>
            <a:ext cx="2565711" cy="458832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200" y="482400"/>
            <a:ext cx="824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Spark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是什么</a:t>
            </a:r>
            <a:endParaRPr 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9583" y="1154724"/>
            <a:ext cx="9091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Apache Spark</a:t>
            </a:r>
            <a:r>
              <a:rPr lang="zh-CN" altLang="en-US" sz="1200" dirty="0"/>
              <a:t>是用于大规模数据（</a:t>
            </a:r>
            <a:r>
              <a:rPr lang="en-US" altLang="zh-CN" sz="1200" dirty="0"/>
              <a:t>large-</a:t>
            </a:r>
            <a:r>
              <a:rPr lang="en-US" altLang="zh-CN" sz="1200" dirty="0" err="1"/>
              <a:t>scala</a:t>
            </a:r>
            <a:r>
              <a:rPr lang="en-US" altLang="zh-CN" sz="1200" dirty="0"/>
              <a:t> data</a:t>
            </a:r>
            <a:r>
              <a:rPr lang="zh-CN" altLang="en-US" sz="1200" dirty="0"/>
              <a:t>）处理的统一（</a:t>
            </a:r>
            <a:r>
              <a:rPr lang="en-US" altLang="zh-CN" sz="1200" dirty="0"/>
              <a:t>unified </a:t>
            </a:r>
            <a:r>
              <a:rPr lang="zh-CN" altLang="en-US" sz="1200" dirty="0"/>
              <a:t>）分析引擎。简而言之，</a:t>
            </a:r>
            <a:r>
              <a:rPr lang="en-US" altLang="zh-CN" sz="1200" dirty="0"/>
              <a:t>Spark </a:t>
            </a:r>
            <a:r>
              <a:rPr lang="zh-CN" altLang="en-US" sz="1200" dirty="0"/>
              <a:t>借鉴了 </a:t>
            </a:r>
            <a:r>
              <a:rPr lang="en-US" altLang="zh-CN" sz="1200" dirty="0" err="1"/>
              <a:t>MapReduce</a:t>
            </a:r>
            <a:r>
              <a:rPr lang="en-US" altLang="zh-CN" sz="1200" dirty="0"/>
              <a:t> </a:t>
            </a:r>
            <a:r>
              <a:rPr lang="zh-CN" altLang="en-US" sz="1200" dirty="0"/>
              <a:t>思想发展而来，保留了其分布式并行计算的优点并改进了其明显的缺陷。让中间数据存储在内存中提高了运行速度、并提供丰富的操作数据的</a:t>
            </a:r>
            <a:r>
              <a:rPr lang="en-US" altLang="zh-CN" sz="1200" dirty="0"/>
              <a:t>API</a:t>
            </a:r>
            <a:r>
              <a:rPr lang="zh-CN" altLang="en-US" sz="1200" dirty="0"/>
              <a:t>提高了开发速度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endParaRPr lang="zh-CN" altLang="en-US" sz="1200" dirty="0"/>
          </a:p>
          <a:p>
            <a:r>
              <a:rPr lang="en-US" altLang="zh-CN" sz="1000" dirty="0"/>
              <a:t>Spark</a:t>
            </a:r>
            <a:r>
              <a:rPr lang="zh-CN" altLang="en-US" sz="1000" dirty="0"/>
              <a:t>是一款分布式内存计算的统一分析引擎。其特点就是对任意类型的数据进行自定义计算。</a:t>
            </a:r>
          </a:p>
          <a:p>
            <a:r>
              <a:rPr lang="en-US" altLang="zh-CN" sz="1000" dirty="0"/>
              <a:t>Spark</a:t>
            </a:r>
            <a:r>
              <a:rPr lang="zh-CN" altLang="en-US" sz="1000" dirty="0"/>
              <a:t>可以计算：结构化、半结构化、非结构化等各种类型的数据结构，同时也支持使用</a:t>
            </a:r>
            <a:r>
              <a:rPr lang="en-US" altLang="zh-CN" sz="1000" dirty="0"/>
              <a:t>Python</a:t>
            </a:r>
            <a:r>
              <a:rPr lang="zh-CN" altLang="en-US" sz="1000" dirty="0"/>
              <a:t>、</a:t>
            </a:r>
            <a:r>
              <a:rPr lang="en-US" altLang="zh-CN" sz="1000" dirty="0"/>
              <a:t>Java</a:t>
            </a:r>
            <a:r>
              <a:rPr lang="zh-CN" altLang="en-US" sz="1000" dirty="0"/>
              <a:t>、</a:t>
            </a:r>
            <a:r>
              <a:rPr lang="en-US" altLang="zh-CN" sz="1000" dirty="0"/>
              <a:t>Scala</a:t>
            </a:r>
            <a:r>
              <a:rPr lang="zh-CN" altLang="en-US" sz="1000" dirty="0"/>
              <a:t>、</a:t>
            </a:r>
            <a:r>
              <a:rPr lang="en-US" altLang="zh-CN" sz="1000" dirty="0"/>
              <a:t>R</a:t>
            </a:r>
            <a:r>
              <a:rPr lang="zh-CN" altLang="en-US" sz="1000" dirty="0"/>
              <a:t>以及</a:t>
            </a:r>
            <a:r>
              <a:rPr lang="en-US" altLang="zh-CN" sz="1000" dirty="0"/>
              <a:t>SQL</a:t>
            </a:r>
            <a:r>
              <a:rPr lang="zh-CN" altLang="en-US" sz="1000" dirty="0"/>
              <a:t>语言去开发应用程序计算数据。</a:t>
            </a:r>
          </a:p>
          <a:p>
            <a:r>
              <a:rPr lang="en-US" altLang="zh-CN" sz="1000" dirty="0"/>
              <a:t>Spark</a:t>
            </a:r>
            <a:r>
              <a:rPr lang="zh-CN" altLang="en-US" sz="1000" dirty="0"/>
              <a:t>的适用面非常广泛，所以，被称之为统一的（适用面广）的分析引擎（数据处理）。</a:t>
            </a:r>
          </a:p>
          <a:p>
            <a:endParaRPr lang="zh-CN" altLang="en-US" dirty="0"/>
          </a:p>
        </p:txBody>
      </p:sp>
      <p:pic>
        <p:nvPicPr>
          <p:cNvPr id="1026" name="Picture 2" descr="https://i-blog.csdnimg.cn/blog_migrate/2ad156446986d24c13bf330f78f3d3b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017" y="2724384"/>
            <a:ext cx="7801708" cy="3431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628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200" y="482400"/>
            <a:ext cx="824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组件架构图</a:t>
            </a:r>
            <a:endParaRPr lang="zh-CN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indent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266" name="Picture 2" descr="https://img0.baidu.com/it/u=1172446920,959598571&amp;fm=253&amp;fmt=auto&amp;app=138&amp;f=PNG?w=980&amp;h=5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58" y="1286878"/>
            <a:ext cx="9334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68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200" y="482400"/>
            <a:ext cx="824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相关概念</a:t>
            </a:r>
            <a:endParaRPr 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77461" y="1412631"/>
            <a:ext cx="62777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角色：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Client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Driver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、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Executor</a:t>
            </a:r>
          </a:p>
          <a:p>
            <a:r>
              <a:rPr lang="zh-CN" altLang="en-US" dirty="0" smtClean="0"/>
              <a:t>运行时层次架构：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Job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Task</a:t>
            </a:r>
          </a:p>
          <a:p>
            <a:r>
              <a:rPr lang="en-US" altLang="zh-CN" dirty="0" smtClean="0"/>
              <a:t>UI </a:t>
            </a:r>
            <a:r>
              <a:rPr lang="zh-CN" altLang="en-US" dirty="0" smtClean="0"/>
              <a:t>界面：</a:t>
            </a:r>
            <a:endParaRPr lang="en-US" altLang="zh-CN" dirty="0" smtClean="0"/>
          </a:p>
          <a:p>
            <a:r>
              <a:rPr lang="en-US" altLang="zh-CN" dirty="0" smtClean="0"/>
              <a:t>8080</a:t>
            </a:r>
            <a:r>
              <a:rPr lang="zh-CN" altLang="en-US" dirty="0" smtClean="0"/>
              <a:t>：</a:t>
            </a:r>
            <a:r>
              <a:rPr lang="en-US" altLang="zh-CN" dirty="0" smtClean="0"/>
              <a:t>Master</a:t>
            </a:r>
          </a:p>
          <a:p>
            <a:r>
              <a:rPr lang="en-US" altLang="zh-CN" dirty="0" smtClean="0"/>
              <a:t>8081</a:t>
            </a:r>
            <a:r>
              <a:rPr lang="zh-CN" altLang="en-US" dirty="0" smtClean="0"/>
              <a:t>：</a:t>
            </a:r>
            <a:r>
              <a:rPr lang="en-US" altLang="zh-CN" dirty="0" smtClean="0"/>
              <a:t>Worker</a:t>
            </a:r>
          </a:p>
          <a:p>
            <a:r>
              <a:rPr lang="en-US" altLang="zh-CN" dirty="0" smtClean="0"/>
              <a:t>4040</a:t>
            </a:r>
            <a:r>
              <a:rPr lang="zh-CN" altLang="en-US" dirty="0" smtClean="0"/>
              <a:t>：应用程序</a:t>
            </a:r>
            <a:endParaRPr lang="en-US" altLang="zh-CN" dirty="0" smtClean="0"/>
          </a:p>
          <a:p>
            <a:r>
              <a:rPr lang="en-US" altLang="zh-CN" dirty="0" smtClean="0"/>
              <a:t>18080</a:t>
            </a:r>
            <a:r>
              <a:rPr lang="zh-CN" altLang="en-US" dirty="0" smtClean="0"/>
              <a:t>：</a:t>
            </a:r>
            <a:r>
              <a:rPr lang="en-US" altLang="zh-CN" dirty="0" smtClean="0"/>
              <a:t>History Server</a:t>
            </a:r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273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200" y="482400"/>
            <a:ext cx="824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提交流程图</a:t>
            </a:r>
            <a:endParaRPr lang="zh-CN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indent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194" name="Picture 2" descr="Spark Standalone Client 提交任务方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31" y="898982"/>
            <a:ext cx="7588338" cy="559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39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200" y="482400"/>
            <a:ext cx="824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提交流程图</a:t>
            </a:r>
            <a:endParaRPr lang="zh-CN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indent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218" name="Picture 2" descr="Spark Standalone Cluster 提交任务方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88" y="877391"/>
            <a:ext cx="8393854" cy="58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727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200" y="482400"/>
            <a:ext cx="824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提交流程图</a:t>
            </a:r>
            <a:endParaRPr lang="zh-CN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indent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146" name="Picture 2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170" y="747346"/>
            <a:ext cx="8432184" cy="569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387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200" y="482400"/>
            <a:ext cx="824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提交流程图</a:t>
            </a:r>
            <a:endParaRPr lang="zh-CN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indent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Picture 2" descr="Spark   YARN Cluster模式任务提交流程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02" y="725614"/>
            <a:ext cx="7605795" cy="59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98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200" y="482400"/>
            <a:ext cx="8247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关键开源技术组件核心代码清单</a:t>
            </a:r>
          </a:p>
        </p:txBody>
      </p:sp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4144870166"/>
              </p:ext>
            </p:extLst>
          </p:nvPr>
        </p:nvGraphicFramePr>
        <p:xfrm>
          <a:off x="1233805" y="1418590"/>
          <a:ext cx="853186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0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代码描述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所属模块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代码行数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spark-shell</a:t>
                      </a:r>
                      <a:r>
                        <a:rPr lang="zh-CN" altLang="en-US" sz="1200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200" kern="1200" baseline="0" dirty="0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spark-submit</a:t>
                      </a:r>
                      <a:r>
                        <a:rPr lang="zh-CN" altLang="en-US" sz="1200" kern="1200" baseline="0" dirty="0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200" kern="1200" baseline="0" dirty="0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spark-class</a:t>
                      </a:r>
                      <a:endParaRPr lang="zh-CN" altLang="en-US" sz="1200" baseline="0" dirty="0" smtClean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启动脚本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200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 err="1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launcher.Main</a:t>
                      </a:r>
                      <a:r>
                        <a:rPr lang="en-US" altLang="zh-CN" sz="1800" kern="1200" baseline="0" dirty="0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800" kern="1200" baseline="0" dirty="0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解析命令参数</a:t>
                      </a:r>
                      <a:r>
                        <a:rPr lang="en-US" altLang="zh-CN" sz="1800" kern="1200" baseline="0" dirty="0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lang="zh-CN" altLang="en-US" baseline="0" dirty="0" smtClean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Spark-launcher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500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 err="1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SparkSubmit</a:t>
                      </a:r>
                      <a:endParaRPr lang="zh-CN" altLang="en-US" baseline="0" dirty="0" smtClean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Spark-core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1000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Master</a:t>
                      </a:r>
                      <a:r>
                        <a:rPr lang="zh-CN" altLang="en-US" sz="1800" kern="1200" baseline="0" dirty="0" smtClean="0">
                          <a:solidFill>
                            <a:schemeClr val="bg1"/>
                          </a:solidFill>
                          <a:effectLst/>
                          <a:latin typeface="Didot"/>
                          <a:ea typeface="微软雅黑" panose="020B0503020204020204" pitchFamily="34" charset="-122"/>
                          <a:cs typeface="+mn-cs"/>
                        </a:rPr>
                        <a:t>启动</a:t>
                      </a:r>
                      <a:endParaRPr lang="zh-CN" altLang="en-US" baseline="0" dirty="0" smtClean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Spark-core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600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Worker</a:t>
                      </a:r>
                      <a:r>
                        <a:rPr lang="zh-CN" altLang="en-US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启动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Spark-core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500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Master</a:t>
                      </a:r>
                      <a:r>
                        <a:rPr lang="zh-CN" altLang="en-US" sz="1600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600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Worker</a:t>
                      </a:r>
                      <a:r>
                        <a:rPr lang="zh-CN" altLang="en-US" sz="1600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通信（注册</a:t>
                      </a:r>
                      <a:r>
                        <a:rPr lang="en-US" altLang="zh-CN" sz="1600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Worker</a:t>
                      </a:r>
                      <a:r>
                        <a:rPr lang="zh-CN" altLang="en-US" sz="1600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Spark-core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500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Driver</a:t>
                      </a:r>
                      <a:r>
                        <a:rPr lang="zh-CN" altLang="en-US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启动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Spark-core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600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注册</a:t>
                      </a: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Application</a:t>
                      </a:r>
                      <a:endParaRPr lang="zh-CN" altLang="en-US" baseline="0" dirty="0" smtClean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Spark-core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400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Executor </a:t>
                      </a:r>
                      <a:r>
                        <a:rPr lang="zh-CN" altLang="en-US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启动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Spark-core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800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任务提交</a:t>
                      </a: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-stage</a:t>
                      </a:r>
                      <a:r>
                        <a:rPr lang="zh-CN" altLang="en-US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划分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Spark-core</a:t>
                      </a:r>
                      <a:endParaRPr lang="zh-CN" altLang="en-US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aseline="0" dirty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en-US" altLang="zh-CN" baseline="0" dirty="0" smtClean="0">
                          <a:solidFill>
                            <a:schemeClr val="bg1"/>
                          </a:solidFill>
                          <a:latin typeface="Didot"/>
                          <a:ea typeface="微软雅黑" panose="020B0503020204020204" pitchFamily="34" charset="-122"/>
                        </a:rPr>
                        <a:t>00</a:t>
                      </a:r>
                      <a:endParaRPr lang="en-US" altLang="zh-CN" baseline="0" dirty="0">
                        <a:solidFill>
                          <a:schemeClr val="bg1"/>
                        </a:solidFill>
                        <a:latin typeface="Didot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3e2a572-b9b9-4abf-8929-a92dd7c52309"/>
  <p:tag name="RESOURCE_RECORD_KEY" val="{&quot;8&quot;:[20475522,20475518,20472045]}"/>
  <p:tag name="COMMONDATA" val="eyJoZGlkIjoiNmJlY2M1ZDA0MTRlMDFlZTZhNzFlYWU1MTk3YmQ4MjAifQ=="/>
</p:tagLst>
</file>

<file path=ppt/theme/theme1.xml><?xml version="1.0" encoding="utf-8"?>
<a:theme xmlns:a="http://schemas.openxmlformats.org/drawingml/2006/main" name="地图集">
  <a:themeElements>
    <a:clrScheme name="自定义 5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004090"/>
      </a:accent1>
      <a:accent2>
        <a:srgbClr val="0861C8"/>
      </a:accent2>
      <a:accent3>
        <a:srgbClr val="0088EA"/>
      </a:accent3>
      <a:accent4>
        <a:srgbClr val="E6380E"/>
      </a:accent4>
      <a:accent5>
        <a:srgbClr val="5A5B5A"/>
      </a:accent5>
      <a:accent6>
        <a:srgbClr val="CECFCE"/>
      </a:accent6>
      <a:hlink>
        <a:srgbClr val="E4E5E4"/>
      </a:hlink>
      <a:folHlink>
        <a:srgbClr val="B49E74"/>
      </a:folHlink>
    </a:clrScheme>
    <a:fontScheme name="地图集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{36AFADE0-35CF-A841-8B29-9348FA7B34BC}tf10001120</Template>
  <TotalTime>14573</TotalTime>
  <Words>307</Words>
  <Application>Microsoft Office PowerPoint</Application>
  <PresentationFormat>宽屏</PresentationFormat>
  <Paragraphs>70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Didot</vt:lpstr>
      <vt:lpstr>Source Han Sans SC</vt:lpstr>
      <vt:lpstr>等线</vt:lpstr>
      <vt:lpstr>宋体</vt:lpstr>
      <vt:lpstr>微软雅黑</vt:lpstr>
      <vt:lpstr>Arial</vt:lpstr>
      <vt:lpstr>Rockwell</vt:lpstr>
      <vt:lpstr>Wingdings</vt:lpstr>
      <vt:lpstr>地图集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kelun dong (董可伦)-云服务集团</cp:lastModifiedBy>
  <cp:revision>502</cp:revision>
  <dcterms:created xsi:type="dcterms:W3CDTF">2022-01-19T06:40:00Z</dcterms:created>
  <dcterms:modified xsi:type="dcterms:W3CDTF">2024-09-24T07:16:08Z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54E1CDE20FE04B7CA117B9E3C3EBA6C4_12</vt:lpwstr>
  </property>
  <property fmtid="{D5CDD505-2E9C-101B-9397-08002B2CF9AE}" pid="3" name="KSOProductBuildVer">
    <vt:lpwstr>2052-12.1.0.17147</vt:lpwstr>
  </property>
</Properties>
</file>